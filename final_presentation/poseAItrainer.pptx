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Anton" pitchFamily="2" charset="0"/>
      <p:regular r:id="rId16"/>
    </p:embeddedFont>
    <p:embeddedFont>
      <p:font typeface="Anton Italics" panose="020B0604020202020204" charset="0"/>
      <p:regular r:id="rId17"/>
    </p:embeddedFont>
    <p:embeddedFont>
      <p:font typeface="Gisha" panose="020B0502040204020203" pitchFamily="34" charset="-79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A5CB5C3-F560-4C80-85D6-455582BE5D54}" type="datetimeFigureOut">
              <a:rPr lang="he-IL" smtClean="0"/>
              <a:t>ג'/שבט/תשפ"ו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941C37F-747D-49DA-8DE7-73C220AE7C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139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0C60A-1E12-400D-865D-C54C96AA3E4F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5478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1059" y="-585511"/>
            <a:ext cx="17376481" cy="12097763"/>
            <a:chOff x="0" y="0"/>
            <a:chExt cx="1182576" cy="8233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2576" cy="823327"/>
            </a:xfrm>
            <a:custGeom>
              <a:avLst/>
              <a:gdLst/>
              <a:ahLst/>
              <a:cxnLst/>
              <a:rect l="l" t="t" r="r" b="b"/>
              <a:pathLst>
                <a:path w="1182576" h="823327">
                  <a:moveTo>
                    <a:pt x="203200" y="0"/>
                  </a:moveTo>
                  <a:lnTo>
                    <a:pt x="1182576" y="0"/>
                  </a:lnTo>
                  <a:lnTo>
                    <a:pt x="979376" y="823327"/>
                  </a:lnTo>
                  <a:lnTo>
                    <a:pt x="0" y="823327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t="-11665" r="-28878" b="-1166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931637" y="2053387"/>
            <a:ext cx="11206591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0"/>
              </a:lnSpc>
            </a:pPr>
            <a:r>
              <a:rPr lang="en-US" sz="15000" i="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POSE-AI</a:t>
            </a:r>
          </a:p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sz="15000" i="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3695" y="933450"/>
            <a:ext cx="7695605" cy="93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97"/>
              </a:lnSpc>
              <a:spcBef>
                <a:spcPct val="0"/>
              </a:spcBef>
            </a:pPr>
            <a:r>
              <a:rPr lang="he-IL" sz="55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מוטיבציה והגדרת הפרויקט</a:t>
            </a:r>
          </a:p>
        </p:txBody>
      </p:sp>
      <p:sp>
        <p:nvSpPr>
          <p:cNvPr id="3" name="Freeform 3"/>
          <p:cNvSpPr/>
          <p:nvPr/>
        </p:nvSpPr>
        <p:spPr>
          <a:xfrm>
            <a:off x="9749252" y="1877825"/>
            <a:ext cx="7324490" cy="213788"/>
          </a:xfrm>
          <a:custGeom>
            <a:avLst/>
            <a:gdLst/>
            <a:ahLst/>
            <a:cxnLst/>
            <a:rect l="l" t="t" r="r" b="b"/>
            <a:pathLst>
              <a:path w="7324490" h="213788">
                <a:moveTo>
                  <a:pt x="0" y="0"/>
                </a:moveTo>
                <a:lnTo>
                  <a:pt x="7324491" y="0"/>
                </a:lnTo>
                <a:lnTo>
                  <a:pt x="7324491" y="213788"/>
                </a:lnTo>
                <a:lnTo>
                  <a:pt x="0" y="213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9578" b="-4872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22030" y="2694885"/>
            <a:ext cx="16443940" cy="342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361"/>
              </a:lnSpc>
            </a:pPr>
            <a:r>
              <a:rPr lang="he-IL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מוטיבציה: הפרויקט מציג מודל לתיקון טעויות בביצוע </a:t>
            </a:r>
            <a:r>
              <a:rPr lang="en-US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squat</a:t>
            </a:r>
            <a:r>
              <a:rPr lang="he-IL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ללא צורך במאמן צמוד.</a:t>
            </a:r>
          </a:p>
          <a:p>
            <a:pPr algn="r" rtl="1">
              <a:lnSpc>
                <a:spcPts val="4361"/>
              </a:lnSpc>
            </a:pPr>
            <a:r>
              <a:rPr lang="he-IL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המודל אומן על מאגר תמונות סינטטיות כדי לספק למתאמן משוב מדויק בכל מקום ולמנוע פציעות. </a:t>
            </a:r>
          </a:p>
          <a:p>
            <a:pPr algn="r" rtl="1">
              <a:lnSpc>
                <a:spcPts val="4361"/>
              </a:lnSpc>
            </a:pPr>
            <a:endParaRPr lang="he-IL" sz="3115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  <a:rtl/>
            </a:endParaRPr>
          </a:p>
          <a:p>
            <a:pPr algn="r" rtl="1">
              <a:lnSpc>
                <a:spcPts val="4361"/>
              </a:lnSpc>
            </a:pPr>
            <a:r>
              <a:rPr lang="he-IL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הגדרת הפרויקט: מודל המשתמש ב-</a:t>
            </a:r>
            <a:r>
              <a:rPr lang="en-US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Dataset</a:t>
            </a:r>
            <a:r>
              <a:rPr lang="he-IL" sz="31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סינתטי ומסווג בין ביצוע טוב לביצוע לא טוב.</a:t>
            </a:r>
          </a:p>
          <a:p>
            <a:pPr algn="r" rtl="1">
              <a:lnSpc>
                <a:spcPts val="4361"/>
              </a:lnSpc>
              <a:spcBef>
                <a:spcPct val="0"/>
              </a:spcBef>
            </a:pPr>
            <a:endParaRPr lang="he-IL" sz="3115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  <a:rtl/>
            </a:endParaRPr>
          </a:p>
          <a:p>
            <a:pPr algn="r" rtl="1">
              <a:lnSpc>
                <a:spcPts val="5511"/>
              </a:lnSpc>
              <a:spcBef>
                <a:spcPct val="0"/>
              </a:spcBef>
            </a:pPr>
            <a:endParaRPr lang="he-IL" sz="3115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  <a:rt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94676" y="933450"/>
            <a:ext cx="4179213" cy="93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97"/>
              </a:lnSpc>
              <a:spcBef>
                <a:spcPct val="0"/>
              </a:spcBef>
            </a:pPr>
            <a:r>
              <a:rPr lang="he-IL" sz="55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מודלים ומדדים</a:t>
            </a:r>
          </a:p>
        </p:txBody>
      </p:sp>
      <p:sp>
        <p:nvSpPr>
          <p:cNvPr id="3" name="Freeform 3"/>
          <p:cNvSpPr/>
          <p:nvPr/>
        </p:nvSpPr>
        <p:spPr>
          <a:xfrm>
            <a:off x="12971605" y="3545529"/>
            <a:ext cx="3746492" cy="128991"/>
          </a:xfrm>
          <a:custGeom>
            <a:avLst/>
            <a:gdLst/>
            <a:ahLst/>
            <a:cxnLst/>
            <a:rect l="l" t="t" r="r" b="b"/>
            <a:pathLst>
              <a:path w="3746492" h="128991">
                <a:moveTo>
                  <a:pt x="0" y="0"/>
                </a:moveTo>
                <a:lnTo>
                  <a:pt x="3746492" y="0"/>
                </a:lnTo>
                <a:lnTo>
                  <a:pt x="3746492" y="128991"/>
                </a:lnTo>
                <a:lnTo>
                  <a:pt x="0" y="12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74" t="-268894" r="-907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910270" y="2801901"/>
            <a:ext cx="1869162" cy="72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977"/>
              </a:lnSpc>
              <a:spcBef>
                <a:spcPct val="0"/>
              </a:spcBef>
            </a:pPr>
            <a:r>
              <a:rPr lang="he-IL" sz="4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המודלים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34723" y="3919726"/>
            <a:ext cx="5024577" cy="380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Vision Transformer (</a:t>
            </a:r>
            <a:r>
              <a:rPr lang="en-US" sz="3569" dirty="0" err="1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ViT</a:t>
            </a: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-B/16)</a:t>
            </a:r>
          </a:p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 err="1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MediaPipe</a:t>
            </a:r>
            <a:endParaRPr lang="en-US" sz="3569" dirty="0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</a:endParaRPr>
          </a:p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Stable Diffusion &amp; ControlNet</a:t>
            </a:r>
          </a:p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LLM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3156" y="4069608"/>
            <a:ext cx="4560733" cy="187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763" lvl="1" indent="-385382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Synthetic Data Generation</a:t>
            </a:r>
          </a:p>
          <a:p>
            <a:pPr marL="770763" lvl="1" indent="-385382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Augmentation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03296" y="2801903"/>
            <a:ext cx="1751528" cy="72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977"/>
              </a:lnSpc>
              <a:spcBef>
                <a:spcPct val="0"/>
              </a:spcBef>
            </a:pPr>
            <a:r>
              <a:rPr lang="he-IL" sz="4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הנתונים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43134" y="2801901"/>
            <a:ext cx="2307312" cy="72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977"/>
              </a:lnSpc>
              <a:spcBef>
                <a:spcPct val="0"/>
              </a:spcBef>
            </a:pPr>
            <a:r>
              <a:rPr lang="he-IL" sz="4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המטריקות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434" y="4069608"/>
            <a:ext cx="5359718" cy="18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747" lvl="1" indent="-385373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Qualitative Feedback</a:t>
            </a:r>
          </a:p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AUC-ROC</a:t>
            </a:r>
          </a:p>
          <a:p>
            <a:pPr marL="770747" lvl="1" indent="-385373" algn="l">
              <a:lnSpc>
                <a:spcPts val="4997"/>
              </a:lnSpc>
              <a:buFont typeface="Arial"/>
              <a:buChar char="•"/>
            </a:pPr>
            <a:r>
              <a:rPr lang="en-US" sz="356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Accuracy &amp; F1-Score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05814" y="3545529"/>
            <a:ext cx="3746492" cy="128991"/>
          </a:xfrm>
          <a:custGeom>
            <a:avLst/>
            <a:gdLst/>
            <a:ahLst/>
            <a:cxnLst/>
            <a:rect l="l" t="t" r="r" b="b"/>
            <a:pathLst>
              <a:path w="3746492" h="128991">
                <a:moveTo>
                  <a:pt x="0" y="0"/>
                </a:moveTo>
                <a:lnTo>
                  <a:pt x="3746492" y="0"/>
                </a:lnTo>
                <a:lnTo>
                  <a:pt x="3746492" y="128991"/>
                </a:lnTo>
                <a:lnTo>
                  <a:pt x="0" y="12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74" t="-268894" r="-907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75047" y="3545529"/>
            <a:ext cx="3746492" cy="128991"/>
          </a:xfrm>
          <a:custGeom>
            <a:avLst/>
            <a:gdLst/>
            <a:ahLst/>
            <a:cxnLst/>
            <a:rect l="l" t="t" r="r" b="b"/>
            <a:pathLst>
              <a:path w="3746492" h="128991">
                <a:moveTo>
                  <a:pt x="0" y="0"/>
                </a:moveTo>
                <a:lnTo>
                  <a:pt x="3746491" y="0"/>
                </a:lnTo>
                <a:lnTo>
                  <a:pt x="3746491" y="128991"/>
                </a:lnTo>
                <a:lnTo>
                  <a:pt x="0" y="12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74" t="-268894" r="-907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73496" y="933450"/>
            <a:ext cx="4634032" cy="93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97"/>
              </a:lnSpc>
              <a:spcBef>
                <a:spcPct val="0"/>
              </a:spcBef>
            </a:pPr>
            <a:r>
              <a:rPr lang="he-IL" sz="55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הישגים וחדשנות</a:t>
            </a:r>
          </a:p>
        </p:txBody>
      </p:sp>
      <p:sp>
        <p:nvSpPr>
          <p:cNvPr id="3" name="Freeform 3"/>
          <p:cNvSpPr/>
          <p:nvPr/>
        </p:nvSpPr>
        <p:spPr>
          <a:xfrm>
            <a:off x="10903166" y="1868300"/>
            <a:ext cx="6014207" cy="261071"/>
          </a:xfrm>
          <a:custGeom>
            <a:avLst/>
            <a:gdLst/>
            <a:ahLst/>
            <a:cxnLst/>
            <a:rect l="l" t="t" r="r" b="b"/>
            <a:pathLst>
              <a:path w="6014207" h="261071">
                <a:moveTo>
                  <a:pt x="0" y="0"/>
                </a:moveTo>
                <a:lnTo>
                  <a:pt x="6014207" y="0"/>
                </a:lnTo>
                <a:lnTo>
                  <a:pt x="6014207" y="261071"/>
                </a:lnTo>
                <a:lnTo>
                  <a:pt x="0" y="261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64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27211" y="2518435"/>
            <a:ext cx="15633579" cy="242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7366" lvl="1" indent="-368683" algn="r" rtl="1">
              <a:lnSpc>
                <a:spcPts val="4781"/>
              </a:lnSpc>
              <a:buFont typeface="Arial"/>
              <a:buChar char="•"/>
            </a:pPr>
            <a:r>
              <a:rPr lang="he-IL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מודל משוב מבוסס </a:t>
            </a:r>
            <a:r>
              <a:rPr lang="en-US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LLM</a:t>
            </a:r>
            <a:r>
              <a:rPr lang="he-IL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: שילוב של </a:t>
            </a:r>
            <a:r>
              <a:rPr lang="en-US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LLM</a:t>
            </a:r>
            <a:r>
              <a:rPr lang="he-IL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להפקת טיפים להסבר ולשיפור עבור כל תמונה שנבדקה.</a:t>
            </a:r>
          </a:p>
          <a:p>
            <a:pPr marL="737366" lvl="1" indent="-368683" algn="r" rtl="1">
              <a:lnSpc>
                <a:spcPts val="4781"/>
              </a:lnSpc>
              <a:buFont typeface="Arial"/>
              <a:buChar char="•"/>
            </a:pPr>
            <a:r>
              <a:rPr lang="he-IL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דינמיות וגיוון: יכולת לייצר וריאציות רבות של זוויות צילום, תאורה ומבני גוף על בסיס מספר מצומצם של תמונות מקור (</a:t>
            </a:r>
            <a:r>
              <a:rPr lang="en-US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Seeds</a:t>
            </a:r>
            <a:r>
              <a:rPr lang="ar-EG" sz="341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45218" y="933450"/>
            <a:ext cx="5127307" cy="87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237"/>
              </a:lnSpc>
              <a:spcBef>
                <a:spcPct val="0"/>
              </a:spcBef>
            </a:pPr>
            <a:r>
              <a:rPr lang="he-IL" sz="51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מתודולוגיה ודאטה  </a:t>
            </a:r>
          </a:p>
        </p:txBody>
      </p:sp>
      <p:sp>
        <p:nvSpPr>
          <p:cNvPr id="3" name="Freeform 3"/>
          <p:cNvSpPr/>
          <p:nvPr/>
        </p:nvSpPr>
        <p:spPr>
          <a:xfrm>
            <a:off x="11687651" y="1868300"/>
            <a:ext cx="5229722" cy="227018"/>
          </a:xfrm>
          <a:custGeom>
            <a:avLst/>
            <a:gdLst/>
            <a:ahLst/>
            <a:cxnLst/>
            <a:rect l="l" t="t" r="r" b="b"/>
            <a:pathLst>
              <a:path w="5229722" h="227018">
                <a:moveTo>
                  <a:pt x="0" y="0"/>
                </a:moveTo>
                <a:lnTo>
                  <a:pt x="5229722" y="0"/>
                </a:lnTo>
                <a:lnTo>
                  <a:pt x="5229722" y="227018"/>
                </a:lnTo>
                <a:lnTo>
                  <a:pt x="0" y="227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64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23892" y="3445920"/>
            <a:ext cx="5229722" cy="152400"/>
          </a:xfrm>
          <a:custGeom>
            <a:avLst/>
            <a:gdLst/>
            <a:ahLst/>
            <a:cxnLst/>
            <a:rect l="l" t="t" r="r" b="b"/>
            <a:pathLst>
              <a:path w="5229722" h="152400">
                <a:moveTo>
                  <a:pt x="0" y="0"/>
                </a:moveTo>
                <a:lnTo>
                  <a:pt x="5229722" y="0"/>
                </a:lnTo>
                <a:lnTo>
                  <a:pt x="522972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889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975431" y="2822630"/>
            <a:ext cx="4325898" cy="56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577"/>
              </a:lnSpc>
              <a:spcBef>
                <a:spcPct val="0"/>
              </a:spcBef>
            </a:pPr>
            <a:r>
              <a:rPr lang="he-IL" sz="3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בניית מאגר נתונים סינתטי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23892" y="3923719"/>
            <a:ext cx="5450822" cy="4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357" lvl="1" indent="-334178" algn="r" rtl="1">
              <a:lnSpc>
                <a:spcPts val="4333"/>
              </a:lnSpc>
              <a:buFont typeface="Arial"/>
              <a:buChar char="•"/>
            </a:pPr>
            <a:r>
              <a:rPr lang="he-IL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שימוש ב-</a:t>
            </a:r>
            <a:r>
              <a:rPr lang="en-US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MediaPipe</a:t>
            </a:r>
            <a:r>
              <a:rPr lang="he-IL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, חילוץ שלדי בסיס מתמונות אמיתיות והפיכת שלדים תקינים למגוון דוגמאות.</a:t>
            </a:r>
          </a:p>
          <a:p>
            <a:pPr marL="668357" lvl="1" indent="-334178" algn="r" rtl="1">
              <a:lnSpc>
                <a:spcPts val="4333"/>
              </a:lnSpc>
              <a:buFont typeface="Arial"/>
              <a:buChar char="•"/>
            </a:pPr>
            <a:r>
              <a:rPr lang="he-IL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הפיכת שלדים לתמונות ריאליסטיות באמצעות </a:t>
            </a:r>
            <a:r>
              <a:rPr lang="en-US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ControlNet</a:t>
            </a:r>
            <a:r>
              <a:rPr lang="ar-EG" sz="3095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.</a:t>
            </a:r>
          </a:p>
          <a:p>
            <a:pPr algn="r" rtl="1">
              <a:lnSpc>
                <a:spcPts val="4333"/>
              </a:lnSpc>
              <a:spcBef>
                <a:spcPct val="0"/>
              </a:spcBef>
            </a:pPr>
            <a:endParaRPr lang="ar-EG" sz="3095">
              <a:solidFill>
                <a:srgbClr val="FFFFFF"/>
              </a:solidFill>
              <a:latin typeface="Gisha" panose="020B0502040204020203" pitchFamily="34" charset="-79"/>
              <a:ea typeface="Canva Sans"/>
              <a:cs typeface="Canva Sans"/>
              <a:sym typeface="Canva Sans"/>
              <a:rtl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325730" y="3445920"/>
            <a:ext cx="5229722" cy="152400"/>
          </a:xfrm>
          <a:custGeom>
            <a:avLst/>
            <a:gdLst/>
            <a:ahLst/>
            <a:cxnLst/>
            <a:rect l="l" t="t" r="r" b="b"/>
            <a:pathLst>
              <a:path w="5229722" h="152400">
                <a:moveTo>
                  <a:pt x="0" y="0"/>
                </a:moveTo>
                <a:lnTo>
                  <a:pt x="5229722" y="0"/>
                </a:lnTo>
                <a:lnTo>
                  <a:pt x="522972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889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38439" y="2822630"/>
            <a:ext cx="3307675" cy="56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4577"/>
              </a:lnSpc>
              <a:spcBef>
                <a:spcPct val="0"/>
              </a:spcBef>
            </a:pPr>
            <a:r>
              <a:rPr lang="he-IL" sz="3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ניתוח נתונים (</a:t>
            </a:r>
            <a:r>
              <a:rPr lang="en-US" sz="3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EDA</a:t>
            </a:r>
            <a:r>
              <a:rPr lang="ar-EG" sz="3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5496" y="3933244"/>
            <a:ext cx="5229722" cy="382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בחינת התפלגות מאפיינים ויזואליים כמו חדות, בהירות  וניגודיות של התמונות הסינתטיות להבטחת איכות הדאטה.</a:t>
            </a:r>
          </a:p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בקרת איכות: זיהוי חריגים  לדיוק מקסימלי של המודל.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63311" y="3445920"/>
            <a:ext cx="5229722" cy="152400"/>
          </a:xfrm>
          <a:custGeom>
            <a:avLst/>
            <a:gdLst/>
            <a:ahLst/>
            <a:cxnLst/>
            <a:rect l="l" t="t" r="r" b="b"/>
            <a:pathLst>
              <a:path w="5229722" h="152400">
                <a:moveTo>
                  <a:pt x="0" y="0"/>
                </a:moveTo>
                <a:lnTo>
                  <a:pt x="5229722" y="0"/>
                </a:lnTo>
                <a:lnTo>
                  <a:pt x="522972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889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0986" y="2822630"/>
            <a:ext cx="4494371" cy="564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7"/>
              </a:lnSpc>
              <a:spcBef>
                <a:spcPct val="0"/>
              </a:spcBef>
            </a:pPr>
            <a:r>
              <a:rPr lang="he-IL" sz="32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ארכיטקטורה ואופטימיזציה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3311" y="3933244"/>
            <a:ext cx="5357594" cy="382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מודל: </a:t>
            </a:r>
            <a:r>
              <a:rPr lang="en-US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Vision Transformer (ViT-B/16)</a:t>
            </a: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הלומד קשרים מרחביים לזיהוי איכות ה-</a:t>
            </a:r>
            <a:r>
              <a:rPr lang="en-US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squat</a:t>
            </a:r>
            <a:r>
              <a:rPr lang="ar-EG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.</a:t>
            </a:r>
          </a:p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אימון </a:t>
            </a:r>
            <a:r>
              <a:rPr lang="en-US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Fine-Tuning</a:t>
            </a: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: תהליך בשני שלבים:  </a:t>
            </a:r>
            <a:r>
              <a:rPr lang="en-US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Warmup</a:t>
            </a:r>
            <a:r>
              <a:rPr lang="he-IL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ו- </a:t>
            </a:r>
            <a:r>
              <a:rPr lang="en-US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Unfreezing &amp; Finetune</a:t>
            </a:r>
            <a:r>
              <a:rPr lang="ar-EG" sz="30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8530"/>
            <a:ext cx="18423650" cy="10089940"/>
          </a:xfrm>
          <a:custGeom>
            <a:avLst/>
            <a:gdLst/>
            <a:ahLst/>
            <a:cxnLst/>
            <a:rect l="l" t="t" r="r" b="b"/>
            <a:pathLst>
              <a:path w="18423650" h="10089940">
                <a:moveTo>
                  <a:pt x="0" y="0"/>
                </a:moveTo>
                <a:lnTo>
                  <a:pt x="18423650" y="0"/>
                </a:lnTo>
                <a:lnTo>
                  <a:pt x="18423650" y="10089940"/>
                </a:lnTo>
                <a:lnTo>
                  <a:pt x="0" y="10089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54" b="-135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6125" y="2160643"/>
            <a:ext cx="17671399" cy="8018397"/>
          </a:xfrm>
          <a:custGeom>
            <a:avLst/>
            <a:gdLst/>
            <a:ahLst/>
            <a:cxnLst/>
            <a:rect l="l" t="t" r="r" b="b"/>
            <a:pathLst>
              <a:path w="17671399" h="8018397">
                <a:moveTo>
                  <a:pt x="0" y="0"/>
                </a:moveTo>
                <a:lnTo>
                  <a:pt x="17671399" y="0"/>
                </a:lnTo>
                <a:lnTo>
                  <a:pt x="17671399" y="8018398"/>
                </a:lnTo>
                <a:lnTo>
                  <a:pt x="0" y="8018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27991" y="6179271"/>
            <a:ext cx="3999769" cy="3999769"/>
          </a:xfrm>
          <a:custGeom>
            <a:avLst/>
            <a:gdLst/>
            <a:ahLst/>
            <a:cxnLst/>
            <a:rect l="l" t="t" r="r" b="b"/>
            <a:pathLst>
              <a:path w="3999769" h="3999769">
                <a:moveTo>
                  <a:pt x="0" y="0"/>
                </a:moveTo>
                <a:lnTo>
                  <a:pt x="3999769" y="0"/>
                </a:lnTo>
                <a:lnTo>
                  <a:pt x="3999769" y="3999770"/>
                </a:lnTo>
                <a:lnTo>
                  <a:pt x="0" y="3999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6125" y="2170073"/>
            <a:ext cx="4179850" cy="4179850"/>
          </a:xfrm>
          <a:custGeom>
            <a:avLst/>
            <a:gdLst/>
            <a:ahLst/>
            <a:cxnLst/>
            <a:rect l="l" t="t" r="r" b="b"/>
            <a:pathLst>
              <a:path w="4179850" h="4179850">
                <a:moveTo>
                  <a:pt x="0" y="0"/>
                </a:moveTo>
                <a:lnTo>
                  <a:pt x="4179850" y="0"/>
                </a:lnTo>
                <a:lnTo>
                  <a:pt x="4179850" y="4179849"/>
                </a:lnTo>
                <a:lnTo>
                  <a:pt x="0" y="4179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8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295496" y="126094"/>
            <a:ext cx="6917278" cy="9493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5569" dirty="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  <a:rtl/>
              </a:rPr>
              <a:t>Generation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61647" y="1634056"/>
            <a:ext cx="3600000" cy="3600000"/>
          </a:xfrm>
          <a:prstGeom prst="rect">
            <a:avLst/>
          </a:prstGeom>
          <a:solidFill>
            <a:srgbClr val="373A3C"/>
          </a:solidFill>
          <a:ln w="381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361647" y="13140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03C"/>
                </a:solidFill>
              </a:defRPr>
            </a:pPr>
            <a:r>
              <a:t>1) SEED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93041" y="1634056"/>
            <a:ext cx="3600000" cy="3600000"/>
          </a:xfrm>
          <a:prstGeom prst="rect">
            <a:avLst/>
          </a:prstGeom>
          <a:solidFill>
            <a:srgbClr val="373A3C"/>
          </a:solidFill>
          <a:ln w="381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93041" y="1314016"/>
            <a:ext cx="23858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03C"/>
                </a:solidFill>
              </a:defRPr>
            </a:pPr>
            <a:r>
              <a:rPr lang="he-IL" dirty="0"/>
              <a:t>2</a:t>
            </a:r>
            <a:r>
              <a:rPr dirty="0"/>
              <a:t>) 3D pose (world landmarks)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66357" y="1634056"/>
            <a:ext cx="3600000" cy="3600000"/>
          </a:xfrm>
          <a:prstGeom prst="rect">
            <a:avLst/>
          </a:prstGeom>
          <a:solidFill>
            <a:srgbClr val="373A3C"/>
          </a:solidFill>
          <a:ln w="381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66357" y="1314016"/>
            <a:ext cx="2749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03C"/>
                </a:solidFill>
              </a:defRPr>
            </a:pPr>
            <a:r>
              <a:rPr lang="he-IL" dirty="0"/>
              <a:t>3</a:t>
            </a:r>
            <a:r>
              <a:rPr dirty="0"/>
              <a:t>) 2D control map (</a:t>
            </a:r>
            <a:r>
              <a:rPr dirty="0" err="1"/>
              <a:t>OpenPose</a:t>
            </a:r>
            <a:r>
              <a:rPr dirty="0"/>
              <a:t>-like)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659" y="5285334"/>
            <a:ext cx="3127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BEBEB"/>
                </a:solidFill>
              </a:defRPr>
            </a:pP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Use pose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world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landmarks</a:t>
            </a:r>
            <a:br>
              <a:rPr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-&gt; plot 3D skeleton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1297" y="5324097"/>
            <a:ext cx="2970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BEBEB"/>
                </a:solidFill>
              </a:defRPr>
            </a:pP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Project 3D -&gt; 2D</a:t>
            </a:r>
            <a:br>
              <a:rPr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then draw </a:t>
            </a:r>
            <a:r>
              <a:rPr dirty="0" err="1">
                <a:latin typeface="Gisha" panose="020B0502040204020203" pitchFamily="34" charset="-79"/>
                <a:cs typeface="Gisha" panose="020B0502040204020203" pitchFamily="34" charset="-79"/>
              </a:rPr>
              <a:t>OpenPose</a:t>
            </a:r>
            <a:r>
              <a:rPr dirty="0">
                <a:latin typeface="Gisha" panose="020B0502040204020203" pitchFamily="34" charset="-79"/>
                <a:cs typeface="Gisha" panose="020B0502040204020203" pitchFamily="34" charset="-79"/>
              </a:rPr>
              <a:t>-like 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4135" y="6496500"/>
            <a:ext cx="3600000" cy="3600000"/>
          </a:xfrm>
          <a:prstGeom prst="rect">
            <a:avLst/>
          </a:prstGeom>
          <a:solidFill>
            <a:srgbClr val="373A3C"/>
          </a:solidFill>
          <a:ln w="381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4135" y="6176460"/>
            <a:ext cx="30553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03C"/>
                </a:solidFill>
              </a:defRPr>
            </a:pPr>
            <a:r>
              <a:rPr lang="he-IL" dirty="0"/>
              <a:t>4</a:t>
            </a:r>
            <a:r>
              <a:rPr dirty="0"/>
              <a:t>) Prompt used for generation (GOOD)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7172" y="7043838"/>
            <a:ext cx="34917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BEBEB"/>
                </a:solidFill>
              </a:defRPr>
            </a:pPr>
            <a:r>
              <a:rPr sz="2000" dirty="0">
                <a:latin typeface="Gisha" panose="020B0502040204020203" pitchFamily="34" charset="-79"/>
                <a:cs typeface="Gisha" panose="020B0502040204020203" pitchFamily="34" charset="-79"/>
              </a:rPr>
              <a:t>Realistic photo of a person performing a perfect bodyweight squat in a modern gym, heels flat, knees tracking over toes, neutral spine, chest up, controlled depth, sharp focus, natural lighting.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0571" y="6496500"/>
            <a:ext cx="3600000" cy="3600000"/>
          </a:xfrm>
          <a:prstGeom prst="rect">
            <a:avLst/>
          </a:prstGeom>
          <a:solidFill>
            <a:srgbClr val="373A3C"/>
          </a:solidFill>
          <a:ln w="381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0571" y="6176460"/>
            <a:ext cx="21137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03C"/>
                </a:solidFill>
              </a:defRPr>
            </a:pPr>
            <a:r>
              <a:rPr lang="he-IL" dirty="0"/>
              <a:t>5</a:t>
            </a:r>
            <a:r>
              <a:rPr dirty="0"/>
              <a:t>) Synthetic output image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73F971-CB6B-78DC-DA93-35D30D7F2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678" y="1667396"/>
            <a:ext cx="3515529" cy="35155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B23155-C86C-FDCF-F3E1-92E1064FF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687" y="6544637"/>
            <a:ext cx="3503725" cy="35037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36BFA4-15B2-69D9-6E5B-EBF66F3569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957" y="1698122"/>
            <a:ext cx="3484804" cy="348480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4F91127-C0C3-13D3-3034-099E8EB2AF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0796" y="1667396"/>
            <a:ext cx="3550679" cy="355067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B625E48-3A7E-5A9E-2DB0-10406565C7CD}"/>
              </a:ext>
            </a:extLst>
          </p:cNvPr>
          <p:cNvSpPr txBox="1"/>
          <p:nvPr/>
        </p:nvSpPr>
        <p:spPr>
          <a:xfrm>
            <a:off x="6195392" y="5762455"/>
            <a:ext cx="9197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EBEBE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Random camera is sampled to increase pose diversity</a:t>
            </a:r>
            <a:endParaRPr lang="he-IL" sz="1600" dirty="0">
              <a:solidFill>
                <a:srgbClr val="EBEBE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BC42F0D0-CC92-F2F4-AA3A-862EC0F2F7F0}"/>
              </a:ext>
            </a:extLst>
          </p:cNvPr>
          <p:cNvSpPr/>
          <p:nvPr/>
        </p:nvSpPr>
        <p:spPr>
          <a:xfrm>
            <a:off x="5295496" y="918525"/>
            <a:ext cx="6917278" cy="45719"/>
          </a:xfrm>
          <a:custGeom>
            <a:avLst/>
            <a:gdLst/>
            <a:ahLst/>
            <a:cxnLst/>
            <a:rect l="l" t="t" r="r" b="b"/>
            <a:pathLst>
              <a:path w="5229722" h="152400">
                <a:moveTo>
                  <a:pt x="0" y="0"/>
                </a:moveTo>
                <a:lnTo>
                  <a:pt x="5229722" y="0"/>
                </a:lnTo>
                <a:lnTo>
                  <a:pt x="522972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6889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35579" y="1836810"/>
            <a:ext cx="7223721" cy="5417791"/>
          </a:xfrm>
          <a:custGeom>
            <a:avLst/>
            <a:gdLst/>
            <a:ahLst/>
            <a:cxnLst/>
            <a:rect l="l" t="t" r="r" b="b"/>
            <a:pathLst>
              <a:path w="7223721" h="5417791">
                <a:moveTo>
                  <a:pt x="0" y="0"/>
                </a:moveTo>
                <a:lnTo>
                  <a:pt x="7223721" y="0"/>
                </a:lnTo>
                <a:lnTo>
                  <a:pt x="7223721" y="5417791"/>
                </a:lnTo>
                <a:lnTo>
                  <a:pt x="0" y="5417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765" y="1836810"/>
            <a:ext cx="7474061" cy="5343954"/>
          </a:xfrm>
          <a:custGeom>
            <a:avLst/>
            <a:gdLst/>
            <a:ahLst/>
            <a:cxnLst/>
            <a:rect l="l" t="t" r="r" b="b"/>
            <a:pathLst>
              <a:path w="7474061" h="5343954">
                <a:moveTo>
                  <a:pt x="0" y="0"/>
                </a:moveTo>
                <a:lnTo>
                  <a:pt x="7474061" y="0"/>
                </a:lnTo>
                <a:lnTo>
                  <a:pt x="7474061" y="5343953"/>
                </a:lnTo>
                <a:lnTo>
                  <a:pt x="0" y="534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6203" y="645238"/>
            <a:ext cx="10541427" cy="68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5503"/>
              </a:lnSpc>
              <a:spcBef>
                <a:spcPct val="0"/>
              </a:spcBef>
            </a:pPr>
            <a:r>
              <a:rPr lang="he-IL" sz="3931" i="1">
                <a:solidFill>
                  <a:srgbClr val="FFFFFF"/>
                </a:solidFill>
                <a:latin typeface="Gisha" panose="020B0502040204020203" pitchFamily="34" charset="-79"/>
                <a:ea typeface="Anton Italics"/>
                <a:cs typeface="Gisha" panose="020B0502040204020203" pitchFamily="34" charset="-79"/>
                <a:sym typeface="Anton Italics"/>
                <a:rtl/>
              </a:rPr>
              <a:t>ניתוח נתונים - </a:t>
            </a:r>
            <a:r>
              <a:rPr lang="en-US" sz="3931" i="1">
                <a:solidFill>
                  <a:srgbClr val="FFFFFF"/>
                </a:solidFill>
                <a:latin typeface="Gisha" panose="020B0502040204020203" pitchFamily="34" charset="-79"/>
                <a:ea typeface="Anton Italics"/>
                <a:cs typeface="Gisha" panose="020B0502040204020203" pitchFamily="34" charset="-79"/>
                <a:sym typeface="Anton Italics"/>
              </a:rPr>
              <a:t>EDA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3793" y="7648513"/>
            <a:ext cx="9133837" cy="197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21"/>
              </a:lnSpc>
            </a:pP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מטריצת בלבול שמציגה איך המודל סיווג את הדוגמאות האמיתיות:</a:t>
            </a:r>
          </a:p>
          <a:p>
            <a:pPr algn="r" rtl="1">
              <a:lnSpc>
                <a:spcPts val="2621"/>
              </a:lnSpc>
            </a:pP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177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דוגמאות 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Bad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זוהו נכון כ-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Bad</a:t>
            </a:r>
          </a:p>
          <a:p>
            <a:pPr algn="r" rtl="1">
              <a:lnSpc>
                <a:spcPts val="2621"/>
              </a:lnSpc>
            </a:pP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23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דוגמאות 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Bad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זוהו בטעות כ-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Good</a:t>
            </a:r>
          </a:p>
          <a:p>
            <a:pPr algn="r" rtl="1">
              <a:lnSpc>
                <a:spcPts val="2621"/>
              </a:lnSpc>
            </a:pP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131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דוגמאות 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Good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זוהו נכון כ-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Good</a:t>
            </a:r>
          </a:p>
          <a:p>
            <a:pPr algn="r" rtl="1">
              <a:lnSpc>
                <a:spcPts val="2621"/>
              </a:lnSpc>
            </a:pP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69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דוגמאות 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Good</a:t>
            </a:r>
            <a:r>
              <a:rPr lang="he-IL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זוהו בטעות כ-</a:t>
            </a:r>
            <a:r>
              <a:rPr lang="en-US" sz="1872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Bad</a:t>
            </a:r>
          </a:p>
          <a:p>
            <a:pPr algn="r" rtl="1">
              <a:lnSpc>
                <a:spcPts val="2621"/>
              </a:lnSpc>
            </a:pPr>
            <a:endParaRPr lang="en-US" sz="1872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57764" y="7638923"/>
            <a:ext cx="6831062" cy="197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17"/>
              </a:lnSpc>
              <a:spcBef>
                <a:spcPct val="0"/>
              </a:spcBef>
            </a:pP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הגרף מציג את ביצועי הסיווג של המודל עבור ספי החלטה שונים:</a:t>
            </a:r>
          </a:p>
          <a:p>
            <a:pPr algn="r" rtl="1">
              <a:lnSpc>
                <a:spcPts val="2617"/>
              </a:lnSpc>
              <a:spcBef>
                <a:spcPct val="0"/>
              </a:spcBef>
            </a:pP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ציר </a:t>
            </a:r>
            <a:r>
              <a:rPr lang="en-US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X: FALSE POSITIVE RATE</a:t>
            </a: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– כמה דוגמאות סווגו בטעות כחיוביות</a:t>
            </a:r>
          </a:p>
          <a:p>
            <a:pPr algn="r" rtl="1">
              <a:lnSpc>
                <a:spcPts val="2617"/>
              </a:lnSpc>
              <a:spcBef>
                <a:spcPct val="0"/>
              </a:spcBef>
            </a:pP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ציר </a:t>
            </a:r>
            <a:r>
              <a:rPr lang="en-US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Y: TRUE POSITIVE RATE (RECALL)</a:t>
            </a: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– כמה דוגמאות זוהו נכון</a:t>
            </a:r>
          </a:p>
          <a:p>
            <a:pPr algn="r" rtl="1">
              <a:lnSpc>
                <a:spcPts val="2617"/>
              </a:lnSpc>
              <a:spcBef>
                <a:spcPct val="0"/>
              </a:spcBef>
            </a:pP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כל נקודה בעקומה מייצגת סף החלטה אחר</a:t>
            </a:r>
          </a:p>
          <a:p>
            <a:pPr algn="r" rtl="1">
              <a:lnSpc>
                <a:spcPts val="2617"/>
              </a:lnSpc>
              <a:spcBef>
                <a:spcPct val="0"/>
              </a:spcBef>
            </a:pP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‏</a:t>
            </a:r>
            <a:r>
              <a:rPr lang="en-US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AUC ≈ 0.90</a:t>
            </a: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מראה שלמודל יש יכולת הבחנה גבוהה בין </a:t>
            </a:r>
            <a:r>
              <a:rPr lang="en-US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GOOD</a:t>
            </a:r>
            <a:r>
              <a:rPr lang="he-IL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ל-</a:t>
            </a:r>
            <a:r>
              <a:rPr lang="en-US" sz="18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BAD</a:t>
            </a:r>
          </a:p>
          <a:p>
            <a:pPr algn="r" rtl="1">
              <a:lnSpc>
                <a:spcPts val="2617"/>
              </a:lnSpc>
              <a:spcBef>
                <a:spcPct val="0"/>
              </a:spcBef>
            </a:pPr>
            <a:endParaRPr lang="en-US" sz="1869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04701" y="1730117"/>
            <a:ext cx="8278598" cy="5908849"/>
          </a:xfrm>
          <a:custGeom>
            <a:avLst/>
            <a:gdLst/>
            <a:ahLst/>
            <a:cxnLst/>
            <a:rect l="l" t="t" r="r" b="b"/>
            <a:pathLst>
              <a:path w="8278598" h="5908849">
                <a:moveTo>
                  <a:pt x="0" y="0"/>
                </a:moveTo>
                <a:lnTo>
                  <a:pt x="8278598" y="0"/>
                </a:lnTo>
                <a:lnTo>
                  <a:pt x="8278598" y="5908849"/>
                </a:lnTo>
                <a:lnTo>
                  <a:pt x="0" y="5908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56203" y="645238"/>
            <a:ext cx="10541427" cy="68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5503"/>
              </a:lnSpc>
              <a:spcBef>
                <a:spcPct val="0"/>
              </a:spcBef>
            </a:pPr>
            <a:r>
              <a:rPr lang="he-IL" sz="3931" i="1">
                <a:solidFill>
                  <a:srgbClr val="FFFFFF"/>
                </a:solidFill>
                <a:latin typeface="Gisha" panose="020B0502040204020203" pitchFamily="34" charset="-79"/>
                <a:ea typeface="Anton Italics"/>
                <a:cs typeface="Gisha" panose="020B0502040204020203" pitchFamily="34" charset="-79"/>
                <a:sym typeface="Anton Italics"/>
                <a:rtl/>
              </a:rPr>
              <a:t>ניתוח נתונים - </a:t>
            </a:r>
            <a:r>
              <a:rPr lang="en-US" sz="3931" i="1">
                <a:solidFill>
                  <a:srgbClr val="FFFFFF"/>
                </a:solidFill>
                <a:latin typeface="Gisha" panose="020B0502040204020203" pitchFamily="34" charset="-79"/>
                <a:ea typeface="Anton Italics"/>
                <a:cs typeface="Gisha" panose="020B0502040204020203" pitchFamily="34" charset="-79"/>
                <a:sym typeface="Anton Italics"/>
              </a:rPr>
              <a:t>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42775" y="7995021"/>
            <a:ext cx="9162505" cy="139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33"/>
              </a:lnSpc>
              <a:spcBef>
                <a:spcPct val="0"/>
              </a:spcBef>
            </a:pPr>
            <a:r>
              <a:rPr lang="he-IL" sz="2023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הגרף בוחן את "רמת הוודאות" של המודל בכל פעם שהוא מקבל החלטה, ומפריד בין המקרים שבהם המודל צדק לבין המקרים שבהם הוא טעה.</a:t>
            </a:r>
          </a:p>
          <a:p>
            <a:pPr algn="r" rtl="1">
              <a:lnSpc>
                <a:spcPts val="2833"/>
              </a:lnSpc>
              <a:spcBef>
                <a:spcPct val="0"/>
              </a:spcBef>
            </a:pPr>
            <a:r>
              <a:rPr lang="he-IL" sz="2023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הגרף מראה שככל שהמודל בטוח יותר בעצמו, כך שיעור הדיוק שלו עולה – מה שמאפשר לנו לסמוך עליו בעיקר בניבויים בעלי ביטחון גבוה.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29776" y="1745658"/>
            <a:ext cx="13724255" cy="7931863"/>
          </a:xfrm>
          <a:custGeom>
            <a:avLst/>
            <a:gdLst/>
            <a:ahLst/>
            <a:cxnLst/>
            <a:rect l="l" t="t" r="r" b="b"/>
            <a:pathLst>
              <a:path w="13724255" h="7931863">
                <a:moveTo>
                  <a:pt x="0" y="0"/>
                </a:moveTo>
                <a:lnTo>
                  <a:pt x="13724256" y="0"/>
                </a:lnTo>
                <a:lnTo>
                  <a:pt x="13724256" y="7931863"/>
                </a:lnTo>
                <a:lnTo>
                  <a:pt x="0" y="7931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34" r="-1589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44401" y="645238"/>
            <a:ext cx="3676081" cy="68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3"/>
              </a:lnSpc>
              <a:spcBef>
                <a:spcPct val="0"/>
              </a:spcBef>
            </a:pPr>
            <a:r>
              <a:rPr lang="en-US" sz="393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OUTPUT- CSV</a:t>
            </a:r>
          </a:p>
        </p:txBody>
      </p:sp>
      <p:sp>
        <p:nvSpPr>
          <p:cNvPr id="4" name="Freeform 4"/>
          <p:cNvSpPr/>
          <p:nvPr/>
        </p:nvSpPr>
        <p:spPr>
          <a:xfrm>
            <a:off x="9153978" y="1745658"/>
            <a:ext cx="6700053" cy="7931863"/>
          </a:xfrm>
          <a:custGeom>
            <a:avLst/>
            <a:gdLst/>
            <a:ahLst/>
            <a:cxnLst/>
            <a:rect l="l" t="t" r="r" b="b"/>
            <a:pathLst>
              <a:path w="6700053" h="7931863">
                <a:moveTo>
                  <a:pt x="0" y="0"/>
                </a:moveTo>
                <a:lnTo>
                  <a:pt x="6700054" y="0"/>
                </a:lnTo>
                <a:lnTo>
                  <a:pt x="6700054" y="7931863"/>
                </a:lnTo>
                <a:lnTo>
                  <a:pt x="0" y="7931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3204" r="-1731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39129" y="803880"/>
            <a:ext cx="2320171" cy="93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97"/>
              </a:lnSpc>
              <a:spcBef>
                <a:spcPct val="0"/>
              </a:spcBef>
            </a:pPr>
            <a:r>
              <a:rPr lang="he-IL" sz="55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מסקנות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86352" y="3536258"/>
            <a:ext cx="4715297" cy="266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499"/>
              </a:lnSpc>
              <a:spcBef>
                <a:spcPct val="0"/>
              </a:spcBef>
            </a:pP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ראינו שרעשי רקע או זוויות צילום מסוימות גרמו למודל לזהות טעויות שלא קיימות. הרחבת ה-</a:t>
            </a:r>
            <a:r>
              <a:rPr lang="en-US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Dataset</a:t>
            </a: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לסביבות אימון ורקעים מגוונים יותר הייתה מצמצמת משמעותית את מקרי ה-</a:t>
            </a:r>
            <a:r>
              <a:rPr lang="en-US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False Positive</a:t>
            </a:r>
            <a:r>
              <a:rPr lang="ar-EG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9526" y="3536258"/>
            <a:ext cx="4780651" cy="2661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499"/>
              </a:lnSpc>
              <a:spcBef>
                <a:spcPct val="0"/>
              </a:spcBef>
            </a:pP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למדנו כי דיוק המודל נשען על איכות ה-</a:t>
            </a:r>
            <a:r>
              <a:rPr lang="en-US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Dataset</a:t>
            </a: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הסינתטי שיצרנו. השימוש במניפולציות שלד ב-</a:t>
            </a:r>
            <a:r>
              <a:rPr lang="en-US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3D</a:t>
            </a: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אפשר לנו לשלוט במדויק בסוג הטעות, וזהו כלי חיוני ליצירת דוגמאות למידה שלא בהכרח קיימות במאגרי מידע רגילים.</a:t>
            </a:r>
          </a:p>
        </p:txBody>
      </p:sp>
      <p:sp>
        <p:nvSpPr>
          <p:cNvPr id="5" name="Freeform 5"/>
          <p:cNvSpPr/>
          <p:nvPr/>
        </p:nvSpPr>
        <p:spPr>
          <a:xfrm>
            <a:off x="11872905" y="2555077"/>
            <a:ext cx="5574011" cy="5574011"/>
          </a:xfrm>
          <a:custGeom>
            <a:avLst/>
            <a:gdLst/>
            <a:ahLst/>
            <a:cxnLst/>
            <a:rect l="l" t="t" r="r" b="b"/>
            <a:pathLst>
              <a:path w="5574011" h="5574011">
                <a:moveTo>
                  <a:pt x="0" y="0"/>
                </a:moveTo>
                <a:lnTo>
                  <a:pt x="5574011" y="0"/>
                </a:lnTo>
                <a:lnTo>
                  <a:pt x="5574011" y="5574010"/>
                </a:lnTo>
                <a:lnTo>
                  <a:pt x="0" y="5574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357137" y="3536258"/>
            <a:ext cx="4555969" cy="3109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499"/>
              </a:lnSpc>
              <a:spcBef>
                <a:spcPct val="0"/>
              </a:spcBef>
            </a:pP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זיהינו מקרים שבהם המודל התקשה להבחין בין ביצוע תקין לשגוי, בעיקר במצבים ניטרליים (כמו מצב עמידה). נדרש גיוון גדול יותר של זוויות צילום ב-</a:t>
            </a:r>
            <a:r>
              <a:rPr lang="en-US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Dataset</a:t>
            </a:r>
            <a:r>
              <a:rPr lang="he-IL" sz="249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כדי למנוע בלבול בפוזיציות ניטרליות, לצד החמרה בזיהוי טעויות.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2555077"/>
            <a:ext cx="5574011" cy="5574011"/>
          </a:xfrm>
          <a:custGeom>
            <a:avLst/>
            <a:gdLst/>
            <a:ahLst/>
            <a:cxnLst/>
            <a:rect l="l" t="t" r="r" b="b"/>
            <a:pathLst>
              <a:path w="5574011" h="5574011">
                <a:moveTo>
                  <a:pt x="0" y="0"/>
                </a:moveTo>
                <a:lnTo>
                  <a:pt x="5574011" y="0"/>
                </a:lnTo>
                <a:lnTo>
                  <a:pt x="5574011" y="5574010"/>
                </a:lnTo>
                <a:lnTo>
                  <a:pt x="0" y="5574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11652" y="2555077"/>
            <a:ext cx="5574011" cy="5574011"/>
          </a:xfrm>
          <a:custGeom>
            <a:avLst/>
            <a:gdLst/>
            <a:ahLst/>
            <a:cxnLst/>
            <a:rect l="l" t="t" r="r" b="b"/>
            <a:pathLst>
              <a:path w="5574011" h="5574011">
                <a:moveTo>
                  <a:pt x="0" y="0"/>
                </a:moveTo>
                <a:lnTo>
                  <a:pt x="5574010" y="0"/>
                </a:lnTo>
                <a:lnTo>
                  <a:pt x="5574010" y="5574010"/>
                </a:lnTo>
                <a:lnTo>
                  <a:pt x="0" y="5574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16410" y="933450"/>
            <a:ext cx="4384923" cy="93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97"/>
              </a:lnSpc>
              <a:spcBef>
                <a:spcPct val="0"/>
              </a:spcBef>
            </a:pPr>
            <a:r>
              <a:rPr lang="he-IL" sz="5569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רעיונות להמשך</a:t>
            </a:r>
          </a:p>
        </p:txBody>
      </p:sp>
      <p:sp>
        <p:nvSpPr>
          <p:cNvPr id="3" name="Freeform 3"/>
          <p:cNvSpPr/>
          <p:nvPr/>
        </p:nvSpPr>
        <p:spPr>
          <a:xfrm>
            <a:off x="11687651" y="1868300"/>
            <a:ext cx="5229722" cy="227018"/>
          </a:xfrm>
          <a:custGeom>
            <a:avLst/>
            <a:gdLst/>
            <a:ahLst/>
            <a:cxnLst/>
            <a:rect l="l" t="t" r="r" b="b"/>
            <a:pathLst>
              <a:path w="5229722" h="227018">
                <a:moveTo>
                  <a:pt x="0" y="0"/>
                </a:moveTo>
                <a:lnTo>
                  <a:pt x="5229722" y="0"/>
                </a:lnTo>
                <a:lnTo>
                  <a:pt x="5229722" y="227018"/>
                </a:lnTo>
                <a:lnTo>
                  <a:pt x="0" y="227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64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737494"/>
            <a:ext cx="15888673" cy="3270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 הרחבת המערכת לתרגילים נוספים (לדוגמא: </a:t>
            </a:r>
            <a:r>
              <a:rPr lang="en-US" sz="309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</a:rPr>
              <a:t>Deadlift</a:t>
            </a:r>
            <a:r>
              <a:rPr lang="ar-EG" sz="309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Canva Sans"/>
                <a:sym typeface="Canva Sans"/>
                <a:rtl/>
              </a:rPr>
              <a:t>)</a:t>
            </a:r>
          </a:p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מעבר לניתוח וידאו: מעבר מניתוח תמונות סטטיות לניתוח רצף תנועה לזיהוי קצב ומהירות הביצוע.</a:t>
            </a:r>
          </a:p>
          <a:p>
            <a:pPr marL="669289" lvl="1" indent="-334645" algn="r" rtl="1">
              <a:lnSpc>
                <a:spcPts val="4339"/>
              </a:lnSpc>
              <a:buFont typeface="Arial"/>
              <a:buChar char="•"/>
            </a:pPr>
            <a:r>
              <a:rPr lang="he-IL" sz="3099" dirty="0">
                <a:solidFill>
                  <a:srgbClr val="FFFFFF"/>
                </a:solidFill>
                <a:latin typeface="Gisha" panose="020B0502040204020203" pitchFamily="34" charset="-79"/>
                <a:ea typeface="Canva Sans"/>
                <a:cs typeface="Gisha" panose="020B0502040204020203" pitchFamily="34" charset="-79"/>
                <a:sym typeface="Canva Sans"/>
                <a:rtl/>
              </a:rPr>
              <a:t>שיפור עמידות: אימון על רקעים "רועשים" יותר (חדרי כושר עמוסים) לשיפור ביצועי המודל בסביבה אמיתית.</a:t>
            </a:r>
          </a:p>
          <a:p>
            <a:pPr algn="r" rtl="1">
              <a:lnSpc>
                <a:spcPts val="4339"/>
              </a:lnSpc>
            </a:pPr>
            <a:endParaRPr lang="he-IL" sz="3099" dirty="0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  <a:rtl/>
            </a:endParaRPr>
          </a:p>
          <a:p>
            <a:pPr algn="r" rtl="1">
              <a:lnSpc>
                <a:spcPts val="4339"/>
              </a:lnSpc>
              <a:spcBef>
                <a:spcPct val="0"/>
              </a:spcBef>
            </a:pPr>
            <a:endParaRPr lang="he-IL" sz="3099" dirty="0">
              <a:solidFill>
                <a:srgbClr val="FFFFFF"/>
              </a:solidFill>
              <a:latin typeface="Gisha" panose="020B0502040204020203" pitchFamily="34" charset="-79"/>
              <a:ea typeface="Canva Sans"/>
              <a:cs typeface="Gisha" panose="020B0502040204020203" pitchFamily="34" charset="-79"/>
              <a:sym typeface="Canva Sans"/>
              <a:rtl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24194" y="-147607"/>
            <a:ext cx="15073873" cy="11458023"/>
            <a:chOff x="0" y="0"/>
            <a:chExt cx="1335866" cy="10154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5866" cy="1015425"/>
            </a:xfrm>
            <a:custGeom>
              <a:avLst/>
              <a:gdLst/>
              <a:ahLst/>
              <a:cxnLst/>
              <a:rect l="l" t="t" r="r" b="b"/>
              <a:pathLst>
                <a:path w="1335866" h="1015425">
                  <a:moveTo>
                    <a:pt x="203200" y="0"/>
                  </a:moveTo>
                  <a:lnTo>
                    <a:pt x="1335866" y="0"/>
                  </a:lnTo>
                  <a:lnTo>
                    <a:pt x="1132666" y="1015425"/>
                  </a:lnTo>
                  <a:lnTo>
                    <a:pt x="0" y="101542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7259" r="-725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461636" y="4082908"/>
            <a:ext cx="6197491" cy="191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642"/>
              </a:lnSpc>
              <a:spcBef>
                <a:spcPct val="0"/>
              </a:spcBef>
            </a:pPr>
            <a:r>
              <a:rPr lang="en-US" sz="11172" i="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9822861" y="8543643"/>
            <a:ext cx="1503476" cy="3486713"/>
            <a:chOff x="0" y="0"/>
            <a:chExt cx="406400" cy="9424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400" cy="942483"/>
            </a:xfrm>
            <a:custGeom>
              <a:avLst/>
              <a:gdLst/>
              <a:ahLst/>
              <a:cxnLst/>
              <a:rect l="l" t="t" r="r" b="b"/>
              <a:pathLst>
                <a:path w="406400" h="942483">
                  <a:moveTo>
                    <a:pt x="203200" y="0"/>
                  </a:moveTo>
                  <a:lnTo>
                    <a:pt x="406400" y="0"/>
                  </a:lnTo>
                  <a:lnTo>
                    <a:pt x="203200" y="942483"/>
                  </a:lnTo>
                  <a:lnTo>
                    <a:pt x="0" y="94248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21212">
                    <a:alpha val="100000"/>
                  </a:srgbClr>
                </a:gs>
                <a:gs pos="33333">
                  <a:srgbClr val="8C6000">
                    <a:alpha val="100000"/>
                  </a:srgbClr>
                </a:gs>
                <a:gs pos="66667">
                  <a:srgbClr val="C38600">
                    <a:alpha val="100000"/>
                  </a:srgbClr>
                </a:gs>
                <a:gs pos="100000">
                  <a:srgbClr val="FFB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03200" cy="98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673644" y="3433150"/>
            <a:ext cx="4150433" cy="3486713"/>
            <a:chOff x="0" y="0"/>
            <a:chExt cx="1121891" cy="9424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1891" cy="942483"/>
            </a:xfrm>
            <a:custGeom>
              <a:avLst/>
              <a:gdLst/>
              <a:ahLst/>
              <a:cxnLst/>
              <a:rect l="l" t="t" r="r" b="b"/>
              <a:pathLst>
                <a:path w="1121891" h="942483">
                  <a:moveTo>
                    <a:pt x="203200" y="0"/>
                  </a:moveTo>
                  <a:lnTo>
                    <a:pt x="1121891" y="0"/>
                  </a:lnTo>
                  <a:lnTo>
                    <a:pt x="918691" y="942483"/>
                  </a:lnTo>
                  <a:lnTo>
                    <a:pt x="0" y="94248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21212">
                    <a:alpha val="100000"/>
                  </a:srgbClr>
                </a:gs>
                <a:gs pos="33333">
                  <a:srgbClr val="8C6000">
                    <a:alpha val="100000"/>
                  </a:srgbClr>
                </a:gs>
                <a:gs pos="66667">
                  <a:srgbClr val="C38600">
                    <a:alpha val="100000"/>
                  </a:srgbClr>
                </a:gs>
                <a:gs pos="100000">
                  <a:srgbClr val="FFB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918691" cy="98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634</Words>
  <Application>Microsoft Office PowerPoint</Application>
  <PresentationFormat>Custom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Anton</vt:lpstr>
      <vt:lpstr>Gisha</vt:lpstr>
      <vt:lpstr>Anton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Black Geometric Modern Gym Presentation Template</dc:title>
  <dc:creator>rotem</dc:creator>
  <cp:lastModifiedBy>רותם פשרל</cp:lastModifiedBy>
  <cp:revision>5</cp:revision>
  <dcterms:created xsi:type="dcterms:W3CDTF">2006-08-16T00:00:00Z</dcterms:created>
  <dcterms:modified xsi:type="dcterms:W3CDTF">2026-01-21T07:53:02Z</dcterms:modified>
  <dc:identifier>DAG8OadA0Cc</dc:identifier>
</cp:coreProperties>
</file>