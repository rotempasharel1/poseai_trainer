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86" r:id="rId3"/>
    <p:sldId id="292" r:id="rId4"/>
    <p:sldId id="293" r:id="rId5"/>
    <p:sldId id="289" r:id="rId6"/>
    <p:sldId id="294" r:id="rId7"/>
    <p:sldId id="291" r:id="rId8"/>
    <p:sldId id="295" r:id="rId9"/>
    <p:sldId id="273" r:id="rId10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רותם פשרל" initials="רפ" lastIdx="2" clrIdx="0">
    <p:extLst>
      <p:ext uri="{19B8F6BF-5375-455C-9EA6-DF929625EA0E}">
        <p15:presenceInfo xmlns:p15="http://schemas.microsoft.com/office/powerpoint/2012/main" userId="S::318802121@idf.il::0ea830ca-e3f5-4e2b-8902-7af1622ef05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360D"/>
    <a:srgbClr val="FDFDFD"/>
    <a:srgbClr val="D4CFCC"/>
    <a:srgbClr val="E4E0DD"/>
    <a:srgbClr val="E2DEDB"/>
    <a:srgbClr val="F3F2F3"/>
    <a:srgbClr val="EE9129"/>
    <a:srgbClr val="FCF4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8243" autoAdjust="0"/>
  </p:normalViewPr>
  <p:slideViewPr>
    <p:cSldViewPr snapToGrid="0">
      <p:cViewPr varScale="1">
        <p:scale>
          <a:sx n="75" d="100"/>
          <a:sy n="75" d="100"/>
        </p:scale>
        <p:origin x="93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896E4E50-0242-4F4D-93D7-CB78B2A9EB58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F617FF4B-8318-47BF-94B7-E1566F30127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2424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7FF4B-8318-47BF-94B7-E1566F30127B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57996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7FF4B-8318-47BF-94B7-E1566F30127B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12683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A2DA0-79B6-F979-045A-7C51B93E7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4E1E7C-7D84-6634-6766-D73BD2A25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32FD4-5604-B3CE-7625-7FF72BEF1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76764-139E-F7AB-89DF-312818917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7FF4B-8318-47BF-94B7-E1566F30127B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32628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4CA90-11F6-4DFA-B6A3-0D7D57932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0082D-91E0-9A4B-7E74-166F55F51D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EFE8-EB1A-9427-344A-E1C8FA533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8AE2-DCAA-4B78-848A-9FAD33E0643B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F57AD-C06C-C80B-1F31-E304AA1D4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9E285-8DD8-F75B-56F2-F6B286D58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452E4-A38E-4FDE-993B-7C87BCA050CF}" type="slidenum">
              <a:rPr lang="he-IL" smtClean="0"/>
              <a:t>‹#›</a:t>
            </a:fld>
            <a:endParaRPr lang="he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C17614-1309-F59F-F575-52F155FB2C71}"/>
              </a:ext>
            </a:extLst>
          </p:cNvPr>
          <p:cNvSpPr/>
          <p:nvPr userDrawn="1"/>
        </p:nvSpPr>
        <p:spPr>
          <a:xfrm rot="5400000">
            <a:off x="2666998" y="-2666999"/>
            <a:ext cx="6858001" cy="12191999"/>
          </a:xfrm>
          <a:prstGeom prst="rect">
            <a:avLst/>
          </a:prstGeom>
          <a:solidFill>
            <a:srgbClr val="FCF4E8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CE3F7E-6BA3-DC68-4E7F-5D82AE5ACDD2}"/>
              </a:ext>
            </a:extLst>
          </p:cNvPr>
          <p:cNvSpPr/>
          <p:nvPr userDrawn="1"/>
        </p:nvSpPr>
        <p:spPr>
          <a:xfrm>
            <a:off x="972845" y="778145"/>
            <a:ext cx="10246310" cy="5301710"/>
          </a:xfrm>
          <a:prstGeom prst="rect">
            <a:avLst/>
          </a:prstGeom>
          <a:solidFill>
            <a:srgbClr val="EE9129"/>
          </a:solidFill>
          <a:ln w="76200">
            <a:solidFill>
              <a:srgbClr val="9C36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87960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3040E4-76DE-38DD-301E-658679094265}"/>
              </a:ext>
            </a:extLst>
          </p:cNvPr>
          <p:cNvSpPr/>
          <p:nvPr userDrawn="1"/>
        </p:nvSpPr>
        <p:spPr>
          <a:xfrm rot="5400000">
            <a:off x="2666998" y="-2666999"/>
            <a:ext cx="6858001" cy="12191999"/>
          </a:xfrm>
          <a:prstGeom prst="rect">
            <a:avLst/>
          </a:prstGeom>
          <a:solidFill>
            <a:srgbClr val="FCF4E8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4CA90-11F6-4DFA-B6A3-0D7D57932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0082D-91E0-9A4B-7E74-166F55F51D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EFE8-EB1A-9427-344A-E1C8FA533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8AE2-DCAA-4B78-848A-9FAD33E0643B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F57AD-C06C-C80B-1F31-E304AA1D4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9E285-8DD8-F75B-56F2-F6B286D58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452E4-A38E-4FDE-993B-7C87BCA050CF}" type="slidenum">
              <a:rPr lang="he-IL" smtClean="0"/>
              <a:t>‹#›</a:t>
            </a:fld>
            <a:endParaRPr lang="he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CE3F7E-6BA3-DC68-4E7F-5D82AE5ACDD2}"/>
              </a:ext>
            </a:extLst>
          </p:cNvPr>
          <p:cNvSpPr/>
          <p:nvPr userDrawn="1"/>
        </p:nvSpPr>
        <p:spPr>
          <a:xfrm>
            <a:off x="972845" y="778145"/>
            <a:ext cx="10246310" cy="5301710"/>
          </a:xfrm>
          <a:prstGeom prst="rect">
            <a:avLst/>
          </a:prstGeom>
          <a:solidFill>
            <a:srgbClr val="9C360D"/>
          </a:solidFill>
          <a:ln w="76200">
            <a:solidFill>
              <a:srgbClr val="EE91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44449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1319527-A800-EA7C-BEFE-9462F1DD06D1}"/>
              </a:ext>
            </a:extLst>
          </p:cNvPr>
          <p:cNvSpPr/>
          <p:nvPr userDrawn="1"/>
        </p:nvSpPr>
        <p:spPr>
          <a:xfrm rot="5400000">
            <a:off x="2666998" y="-2666999"/>
            <a:ext cx="6858001" cy="12191999"/>
          </a:xfrm>
          <a:prstGeom prst="rect">
            <a:avLst/>
          </a:prstGeom>
          <a:solidFill>
            <a:srgbClr val="FCF4E8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3A2951-D5F1-8E13-A22F-47DE53AD0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6FAE7-6B65-56B1-D2CC-44191F9F2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70D4D-40BE-BF65-161B-E80FD7E63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8AE2-DCAA-4B78-848A-9FAD33E0643B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F18C9-DB2B-7D92-1225-72A1F009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EA8ED-0D64-B8D5-A823-FC53054F0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452E4-A38E-4FDE-993B-7C87BCA050CF}" type="slidenum">
              <a:rPr lang="he-IL" smtClean="0"/>
              <a:t>‹#›</a:t>
            </a:fld>
            <a:endParaRPr lang="he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AED3EC-2606-B09B-478F-E9E131DD24AF}"/>
              </a:ext>
            </a:extLst>
          </p:cNvPr>
          <p:cNvSpPr/>
          <p:nvPr userDrawn="1"/>
        </p:nvSpPr>
        <p:spPr>
          <a:xfrm>
            <a:off x="1" y="6492875"/>
            <a:ext cx="12192000" cy="139065"/>
          </a:xfrm>
          <a:prstGeom prst="rect">
            <a:avLst/>
          </a:prstGeom>
          <a:solidFill>
            <a:srgbClr val="9C360D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5BE2D3-C69E-A61E-849E-9251F2C0486C}"/>
              </a:ext>
            </a:extLst>
          </p:cNvPr>
          <p:cNvSpPr/>
          <p:nvPr userDrawn="1"/>
        </p:nvSpPr>
        <p:spPr>
          <a:xfrm>
            <a:off x="-7397" y="6663031"/>
            <a:ext cx="12192000" cy="139065"/>
          </a:xfrm>
          <a:prstGeom prst="rect">
            <a:avLst/>
          </a:prstGeom>
          <a:solidFill>
            <a:srgbClr val="EE9129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864A4E-54E3-73A2-825F-FC0D22BF677D}"/>
              </a:ext>
            </a:extLst>
          </p:cNvPr>
          <p:cNvSpPr/>
          <p:nvPr userDrawn="1"/>
        </p:nvSpPr>
        <p:spPr>
          <a:xfrm>
            <a:off x="-7397" y="21472"/>
            <a:ext cx="12192000" cy="139065"/>
          </a:xfrm>
          <a:prstGeom prst="rect">
            <a:avLst/>
          </a:prstGeom>
          <a:solidFill>
            <a:srgbClr val="9C360D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EA5939-F34E-4B57-589E-302FEB85E734}"/>
              </a:ext>
            </a:extLst>
          </p:cNvPr>
          <p:cNvSpPr/>
          <p:nvPr userDrawn="1"/>
        </p:nvSpPr>
        <p:spPr>
          <a:xfrm>
            <a:off x="-14796" y="191628"/>
            <a:ext cx="12283735" cy="148296"/>
          </a:xfrm>
          <a:prstGeom prst="rect">
            <a:avLst/>
          </a:prstGeom>
          <a:solidFill>
            <a:srgbClr val="EE9129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4DB23A-C7BA-93F1-F914-EDED5E43EC80}"/>
              </a:ext>
            </a:extLst>
          </p:cNvPr>
          <p:cNvSpPr/>
          <p:nvPr userDrawn="1"/>
        </p:nvSpPr>
        <p:spPr>
          <a:xfrm rot="5400000">
            <a:off x="9088124" y="3389002"/>
            <a:ext cx="6152952" cy="54798"/>
          </a:xfrm>
          <a:prstGeom prst="rect">
            <a:avLst/>
          </a:prstGeom>
          <a:solidFill>
            <a:srgbClr val="FCF4E8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0A1A53-3AC1-04CB-64C2-FB5BA773C8C3}"/>
              </a:ext>
            </a:extLst>
          </p:cNvPr>
          <p:cNvSpPr/>
          <p:nvPr userDrawn="1"/>
        </p:nvSpPr>
        <p:spPr>
          <a:xfrm rot="5400000">
            <a:off x="-3051517" y="3384044"/>
            <a:ext cx="6150435" cy="62196"/>
          </a:xfrm>
          <a:prstGeom prst="rect">
            <a:avLst/>
          </a:prstGeom>
          <a:solidFill>
            <a:srgbClr val="FCF4E8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3849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1319527-A800-EA7C-BEFE-9462F1DD06D1}"/>
              </a:ext>
            </a:extLst>
          </p:cNvPr>
          <p:cNvSpPr/>
          <p:nvPr userDrawn="1"/>
        </p:nvSpPr>
        <p:spPr>
          <a:xfrm rot="5400000">
            <a:off x="2666998" y="-2666999"/>
            <a:ext cx="6858001" cy="12191999"/>
          </a:xfrm>
          <a:prstGeom prst="rect">
            <a:avLst/>
          </a:prstGeom>
          <a:solidFill>
            <a:srgbClr val="FCF4E8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3A2951-D5F1-8E13-A22F-47DE53AD0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6FAE7-6B65-56B1-D2CC-44191F9F2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70D4D-40BE-BF65-161B-E80FD7E63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8AE2-DCAA-4B78-848A-9FAD33E0643B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F18C9-DB2B-7D92-1225-72A1F009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EA8ED-0D64-B8D5-A823-FC53054F0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452E4-A38E-4FDE-993B-7C87BCA050CF}" type="slidenum">
              <a:rPr lang="he-IL" smtClean="0"/>
              <a:t>‹#›</a:t>
            </a:fld>
            <a:endParaRPr lang="he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864A4E-54E3-73A2-825F-FC0D22BF677D}"/>
              </a:ext>
            </a:extLst>
          </p:cNvPr>
          <p:cNvSpPr/>
          <p:nvPr userDrawn="1"/>
        </p:nvSpPr>
        <p:spPr>
          <a:xfrm rot="19407578">
            <a:off x="-2272683" y="1621156"/>
            <a:ext cx="12192000" cy="139065"/>
          </a:xfrm>
          <a:prstGeom prst="rect">
            <a:avLst/>
          </a:prstGeom>
          <a:solidFill>
            <a:srgbClr val="9C360D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EA5939-F34E-4B57-589E-302FEB85E734}"/>
              </a:ext>
            </a:extLst>
          </p:cNvPr>
          <p:cNvSpPr/>
          <p:nvPr userDrawn="1"/>
        </p:nvSpPr>
        <p:spPr>
          <a:xfrm rot="19427057">
            <a:off x="-3281624" y="1661785"/>
            <a:ext cx="12283735" cy="148296"/>
          </a:xfrm>
          <a:prstGeom prst="rect">
            <a:avLst/>
          </a:prstGeom>
          <a:solidFill>
            <a:srgbClr val="EE9129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4DB23A-C7BA-93F1-F914-EDED5E43EC80}"/>
              </a:ext>
            </a:extLst>
          </p:cNvPr>
          <p:cNvSpPr/>
          <p:nvPr userDrawn="1"/>
        </p:nvSpPr>
        <p:spPr>
          <a:xfrm rot="5400000">
            <a:off x="9088124" y="3389002"/>
            <a:ext cx="6152952" cy="54798"/>
          </a:xfrm>
          <a:prstGeom prst="rect">
            <a:avLst/>
          </a:prstGeom>
          <a:solidFill>
            <a:srgbClr val="FCF4E8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0755B9-7149-0287-3B8B-E4DC5B72FA99}"/>
              </a:ext>
            </a:extLst>
          </p:cNvPr>
          <p:cNvSpPr/>
          <p:nvPr userDrawn="1"/>
        </p:nvSpPr>
        <p:spPr>
          <a:xfrm rot="19407578">
            <a:off x="3624734" y="5097780"/>
            <a:ext cx="12192000" cy="139065"/>
          </a:xfrm>
          <a:prstGeom prst="rect">
            <a:avLst/>
          </a:prstGeom>
          <a:solidFill>
            <a:srgbClr val="9C360D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802DB9-6C84-97FE-9D60-D34F7E1E6DBB}"/>
              </a:ext>
            </a:extLst>
          </p:cNvPr>
          <p:cNvSpPr/>
          <p:nvPr userDrawn="1"/>
        </p:nvSpPr>
        <p:spPr>
          <a:xfrm rot="19427057">
            <a:off x="2615793" y="5138409"/>
            <a:ext cx="12283735" cy="148296"/>
          </a:xfrm>
          <a:prstGeom prst="rect">
            <a:avLst/>
          </a:prstGeom>
          <a:solidFill>
            <a:srgbClr val="EE9129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13111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0B83B-BC62-20DF-4FA9-E5A3F67ED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18114-56DB-0609-5E5B-CF37579C3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A6983-3C4D-6399-C2E4-B7F70AD8D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8AE2-DCAA-4B78-848A-9FAD33E0643B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35955-E439-7433-BAFF-EB7583975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A619B-E3D3-336C-F3D1-BF9591BDB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452E4-A38E-4FDE-993B-7C87BCA050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50060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4572-991C-B750-9EDD-56C3FA2B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0216E-1CB7-28DE-57D2-605433A1C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0CFA7-20B9-017E-F13B-DDE182463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8FAB0-F781-1190-6B14-638C5B94B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8AE2-DCAA-4B78-848A-9FAD33E0643B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3D99B-DDFD-C990-0998-91CA0237D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8A347-C1EE-5FF3-D17D-28447F377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452E4-A38E-4FDE-993B-7C87BCA050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256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BA9E9-5AA9-27FF-AB34-E358911AA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500DD-204E-3E96-ADB0-F5BCE55BC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781CF-B6C3-A0C9-5603-70A3FED1C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05CEF3-5CE8-C2E8-0576-C44BD08D6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FA266-F94A-B7A4-D0DC-5B69AC1DC3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A3034-4838-0650-1991-1D0B1A707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8AE2-DCAA-4B78-848A-9FAD33E0643B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A4A9C8-1089-8DB3-18F2-F24B7E8A4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479419-6625-787A-E221-BB5B8A2C9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452E4-A38E-4FDE-993B-7C87BCA050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8030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74CD4-D933-F7A1-64BB-9C578FEE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3FE6A-CAC1-9CE7-E353-85DAF5DB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8AE2-DCAA-4B78-848A-9FAD33E0643B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43B18F-C472-5635-AAC7-EEBC53F62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EF2A2-4C92-0012-B397-8389B6F78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452E4-A38E-4FDE-993B-7C87BCA050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10406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710070-5FB9-9E8F-71A3-725BD8C1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8AE2-DCAA-4B78-848A-9FAD33E0643B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641FD2-0327-C003-D87F-628395A6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1B330-D045-BF25-3286-A36F39565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452E4-A38E-4FDE-993B-7C87BCA050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4729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4FB31-B4AC-2887-7986-6A455110A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9DC36-7346-994C-954F-50585DE13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1A033-E860-6BFF-019E-6EF97BBE5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50452-5B43-64FF-406D-4095397A7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8AE2-DCAA-4B78-848A-9FAD33E0643B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DF329-4E1C-1206-91D5-FCE665F34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AAF12-1953-3786-EAF2-74740222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452E4-A38E-4FDE-993B-7C87BCA050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87832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2522D-ED29-E255-CCD1-A446CB73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9ED55C-7F4B-823D-6E37-3F53C44887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EB570A-41DF-418D-6DDF-E912BEEEE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51BB0-B4C2-8592-3B73-98BF49670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8AE2-DCAA-4B78-848A-9FAD33E0643B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9C997-9899-C70C-DBAC-873C302B5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7C8ED-011C-4A8A-7B7B-A21B62817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452E4-A38E-4FDE-993B-7C87BCA050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7021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417F0-CE50-AB86-DD12-087BC4017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52525-23E9-14D1-E3D5-0EDFFB7BB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E602A-A735-F816-7C54-AA6CD2139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8AE2-DCAA-4B78-848A-9FAD33E0643B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BEC79-A56C-32BC-46CA-5DD26A1E2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44471-13D0-9DBF-6318-ACDBE814C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452E4-A38E-4FDE-993B-7C87BCA050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8421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185541-D416-D0CB-5CD8-8D6AC7F86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B39386-A8A2-94CE-55E6-599AFE1CB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ADE84-01F4-00D7-0F2A-29CB5AD72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8AE2-DCAA-4B78-848A-9FAD33E0643B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51F22-4E95-3D76-7DDC-7FA1F147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65790-B244-E7AD-4DFF-2AD7D325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452E4-A38E-4FDE-993B-7C87BCA050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4615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367AA8-B613-2F18-68D9-04BB91A12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BF13E-4C59-37D1-CC34-D84FA1933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EF524-C440-6738-9690-83AFA931E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B8AE2-DCAA-4B78-848A-9FAD33E0643B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EB9AA-0E9C-E4E9-B517-4A11B28DF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FB28B-B47A-BEB0-0E49-D33B726D0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452E4-A38E-4FDE-993B-7C87BCA050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5284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2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10FAA-9CE3-0BE6-1DF9-A42D5509A4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 err="1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PoseAI</a:t>
            </a:r>
            <a:r>
              <a:rPr lang="en-US" sz="7200" b="1" dirty="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Trainer</a:t>
            </a:r>
            <a:endParaRPr lang="he-IL" sz="7200" b="1" dirty="0">
              <a:solidFill>
                <a:schemeClr val="bg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2362F40-229D-8573-3FDC-28338DB59B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rtl="1"/>
            <a:r>
              <a:rPr lang="he-IL" b="1" dirty="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מודל</a:t>
            </a:r>
            <a:r>
              <a:rPr lang="en-US" b="1" dirty="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AI </a:t>
            </a:r>
            <a:r>
              <a:rPr lang="he-IL" b="1" dirty="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להערכת תנוחות ומתן פידבק טקסטואלי</a:t>
            </a:r>
          </a:p>
        </p:txBody>
      </p:sp>
    </p:spTree>
    <p:extLst>
      <p:ext uri="{BB962C8B-B14F-4D97-AF65-F5344CB8AC3E}">
        <p14:creationId xmlns:p14="http://schemas.microsoft.com/office/powerpoint/2010/main" val="21009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51A66-0E6D-B134-9CD5-35078E63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b="1" dirty="0">
                <a:latin typeface="Gisha" panose="020B0502040204020203" pitchFamily="34" charset="-79"/>
                <a:cs typeface="Gisha" panose="020B0502040204020203" pitchFamily="34" charset="-79"/>
              </a:rPr>
              <a:t>הצורך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F7A3F-C936-5E41-0987-E5C5FFFE1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אנשים שמתאמנים בבית מבצעים לרוב תרגילים בצורה לא נכונה, </a:t>
            </a:r>
            <a:b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בלי פיקוח של מאמן. זה עלול לגרום:</a:t>
            </a:r>
          </a:p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לפציעות</a:t>
            </a:r>
          </a:p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לביצועים לא אפקטיביים</a:t>
            </a:r>
          </a:p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לחוסר מודעות לטעויות</a:t>
            </a:r>
          </a:p>
          <a:p>
            <a:pPr algn="r" rtl="1"/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3594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25279-85A8-C162-6E76-65EEAD520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3267-5F74-2673-3C79-405CB694C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b="1" dirty="0">
                <a:latin typeface="Gisha" panose="020B0502040204020203" pitchFamily="34" charset="-79"/>
                <a:cs typeface="Gisha" panose="020B0502040204020203" pitchFamily="34" charset="-79"/>
              </a:rPr>
              <a:t>הערך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45F41-970A-1E0C-7663-23B03CCF3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קבלת פידבק טקסטואלי על ביצוע התרגיל</a:t>
            </a:r>
          </a:p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תיקון תנוחה</a:t>
            </a:r>
          </a:p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למידה עצמית ושיפור איכות התרגילים</a:t>
            </a:r>
          </a:p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פתרון שקול למאמן אישי - אבל זמין, זול ונוח יותר</a:t>
            </a:r>
          </a:p>
          <a:p>
            <a:pPr algn="r" rtl="1"/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28998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AB778-4E6A-2734-36CA-49CB23096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B86C3-6807-0299-27AF-B93051E6C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b="1" dirty="0">
                <a:latin typeface="Gisha" panose="020B0502040204020203" pitchFamily="34" charset="-79"/>
                <a:cs typeface="Gisha" panose="020B0502040204020203" pitchFamily="34" charset="-79"/>
              </a:rPr>
              <a:t>פתרונות טכנולוגיים קיימים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37475-0A4A-F7AC-4380-59A964C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74611"/>
            <a:ext cx="12006943" cy="4351338"/>
          </a:xfrm>
        </p:spPr>
        <p:txBody>
          <a:bodyPr/>
          <a:lstStyle/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אפליקציות כושר כיום מציגות סרטונים בלבד (ללא תיקון)</a:t>
            </a:r>
          </a:p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חלק מהאפליקציות משתמשות בספירת צעדים או תנועות, אך לא מנתחות תנוחה</a:t>
            </a:r>
          </a:p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אין פתרון נגיש שמספק </a:t>
            </a:r>
            <a:r>
              <a:rPr lang="he-IL" b="1" dirty="0">
                <a:latin typeface="Gisha" panose="020B0502040204020203" pitchFamily="34" charset="-79"/>
                <a:cs typeface="Gisha" panose="020B0502040204020203" pitchFamily="34" charset="-79"/>
              </a:rPr>
              <a:t>זיהוי טעויות + פידבק טקסטואלי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marL="0" indent="0" algn="r" rtl="1">
              <a:buNone/>
            </a:pPr>
            <a:endParaRPr lang="he-IL" b="1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marL="0" indent="0" algn="ctr" rtl="1">
              <a:buNone/>
            </a:pPr>
            <a:r>
              <a:rPr lang="he-IL" b="1" dirty="0">
                <a:latin typeface="Gisha" panose="020B0502040204020203" pitchFamily="34" charset="-79"/>
                <a:cs typeface="Gisha" panose="020B0502040204020203" pitchFamily="34" charset="-79"/>
              </a:rPr>
              <a:t>החדשנות: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 שילוב של 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Computer Vision + LLM 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 ופידבק אנושי.</a:t>
            </a:r>
          </a:p>
          <a:p>
            <a:pPr algn="r" rtl="1"/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53885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D9F5C-77B1-D597-58FC-463D84A36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b="1" dirty="0">
                <a:latin typeface="Gisha" panose="020B0502040204020203" pitchFamily="34" charset="-79"/>
                <a:cs typeface="Gisha" panose="020B0502040204020203" pitchFamily="34" charset="-79"/>
              </a:rPr>
              <a:t>משימת הפרויקט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AE284-587E-F89C-5094-DC54498BC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en-US" b="1" dirty="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b="1" dirty="0">
                <a:latin typeface="Gisha" panose="020B0502040204020203" pitchFamily="34" charset="-79"/>
                <a:cs typeface="Gisha" panose="020B0502040204020203" pitchFamily="34" charset="-79"/>
              </a:rPr>
              <a:t>קלט</a:t>
            </a:r>
          </a:p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תמונות שהמודל יוצר ומסווג ל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Train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 ו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Test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סוג תרגיל נבחר לדוגמא 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squat</a:t>
            </a:r>
          </a:p>
          <a:p>
            <a:pPr algn="r" rtl="1"/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marL="0" indent="0" algn="r" rtl="1">
              <a:buNone/>
            </a:pPr>
            <a:r>
              <a:rPr lang="en-US" b="1" dirty="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b="1" dirty="0">
                <a:latin typeface="Gisha" panose="020B0502040204020203" pitchFamily="34" charset="-79"/>
                <a:cs typeface="Gisha" panose="020B0502040204020203" pitchFamily="34" charset="-79"/>
              </a:rPr>
              <a:t>פלט</a:t>
            </a:r>
          </a:p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החלטה על איכות ה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 squat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-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Good squat 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 או 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Needs improvement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פידבק טקסטואלי </a:t>
            </a:r>
          </a:p>
        </p:txBody>
      </p:sp>
    </p:spTree>
    <p:extLst>
      <p:ext uri="{BB962C8B-B14F-4D97-AF65-F5344CB8AC3E}">
        <p14:creationId xmlns:p14="http://schemas.microsoft.com/office/powerpoint/2010/main" val="154639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6BA5F-5045-2F30-8DF4-C9E9FC62B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FB6A5-A5EA-A506-0817-60100266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b="1" dirty="0">
                <a:latin typeface="Gisha" panose="020B0502040204020203" pitchFamily="34" charset="-79"/>
                <a:cs typeface="Gisha" panose="020B0502040204020203" pitchFamily="34" charset="-79"/>
              </a:rPr>
              <a:t>דרישות נתונים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0F870-C4B7-DFF7-EAD8-16D508B05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מאגרי תמונות שיצרנו מתוך הקוד</a:t>
            </a:r>
          </a:p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תמונות שמתויגות כנכון / לא נכון</a:t>
            </a:r>
          </a:p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מגוון רחב של נתונים ככל הניתן</a:t>
            </a:r>
          </a:p>
        </p:txBody>
      </p:sp>
    </p:spTree>
    <p:extLst>
      <p:ext uri="{BB962C8B-B14F-4D97-AF65-F5344CB8AC3E}">
        <p14:creationId xmlns:p14="http://schemas.microsoft.com/office/powerpoint/2010/main" val="810052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F41A-9D2F-5DC2-3F34-654A8432A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b="1" dirty="0">
                <a:latin typeface="Gisha" panose="020B0502040204020203" pitchFamily="34" charset="-79"/>
                <a:cs typeface="Gisha" panose="020B0502040204020203" pitchFamily="34" charset="-79"/>
              </a:rPr>
              <a:t>חדשנות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86443-D999-105C-7ECC-E7EDD131C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שילוב 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Pose Estimation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 עם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 LLM 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להסברים ופידבק טקסטואלי</a:t>
            </a:r>
          </a:p>
          <a:p>
            <a:pPr algn="r" rtl="1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ניתוח של זוויות מפרקים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C9D0F3-696A-DC86-7F8F-16A2C2DB4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078480"/>
            <a:ext cx="2890520" cy="289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41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89280-ABA4-4720-53E1-183E81F1F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B0FFC-AD46-3BD3-8DC7-CC0CA8D1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Gisha" panose="020B0502040204020203" pitchFamily="34" charset="-79"/>
                <a:cs typeface="Gisha" panose="020B0502040204020203" pitchFamily="34" charset="-79"/>
              </a:rPr>
              <a:t>Use case</a:t>
            </a:r>
            <a:endParaRPr lang="he-IL" b="1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99E21B-3E24-A75D-20BF-F7F9E3CD7B12}"/>
              </a:ext>
            </a:extLst>
          </p:cNvPr>
          <p:cNvSpPr txBox="1"/>
          <p:nvPr/>
        </p:nvSpPr>
        <p:spPr>
          <a:xfrm>
            <a:off x="346166" y="1566877"/>
            <a:ext cx="11007634" cy="4545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he-IL" sz="2800" dirty="0">
                <a:latin typeface="Gisha" panose="020B0502040204020203" pitchFamily="34" charset="-79"/>
                <a:cs typeface="Gisha" panose="020B0502040204020203" pitchFamily="34" charset="-79"/>
              </a:rPr>
              <a:t>הקוד בעצמו יוצר תמונות על מנת לבנות </a:t>
            </a:r>
            <a:r>
              <a:rPr lang="en-US" sz="2800" dirty="0">
                <a:latin typeface="Gisha" panose="020B0502040204020203" pitchFamily="34" charset="-79"/>
                <a:cs typeface="Gisha" panose="020B0502040204020203" pitchFamily="34" charset="-79"/>
              </a:rPr>
              <a:t>dataset</a:t>
            </a:r>
            <a:r>
              <a:rPr lang="he-IL" sz="2800" dirty="0">
                <a:latin typeface="Gisha" panose="020B0502040204020203" pitchFamily="34" charset="-79"/>
                <a:cs typeface="Gisha" panose="020B0502040204020203" pitchFamily="34" charset="-79"/>
              </a:rPr>
              <a:t> מלאכותי כדי לאמן ולבחון את המודל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he-IL" sz="2800" dirty="0">
                <a:latin typeface="Gisha" panose="020B0502040204020203" pitchFamily="34" charset="-79"/>
                <a:cs typeface="Gisha" panose="020B0502040204020203" pitchFamily="34" charset="-79"/>
              </a:rPr>
              <a:t>המודל מזהה תנוחה, מחשב זוויות, מחליט אם הביצוע טוב/לא טוב, מציע תיקונים על בסיס </a:t>
            </a:r>
            <a:r>
              <a:rPr lang="en-US" sz="2800" dirty="0">
                <a:latin typeface="Gisha" panose="020B0502040204020203" pitchFamily="34" charset="-79"/>
                <a:cs typeface="Gisha" panose="020B0502040204020203" pitchFamily="34" charset="-79"/>
              </a:rPr>
              <a:t>LLM</a:t>
            </a:r>
            <a:endParaRPr lang="he-IL" sz="2800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he-IL" sz="2800" dirty="0">
                <a:latin typeface="Gisha" panose="020B0502040204020203" pitchFamily="34" charset="-79"/>
                <a:cs typeface="Gisha" panose="020B0502040204020203" pitchFamily="34" charset="-79"/>
              </a:rPr>
              <a:t>המודל עובר על התמונות בתיקייה מחזיר פידבק טקסטואלי בתוך </a:t>
            </a:r>
            <a:r>
              <a:rPr lang="en-US" sz="2800" dirty="0">
                <a:latin typeface="Gisha" panose="020B0502040204020203" pitchFamily="34" charset="-79"/>
                <a:cs typeface="Gisha" panose="020B0502040204020203" pitchFamily="34" charset="-79"/>
              </a:rPr>
              <a:t>CSV</a:t>
            </a:r>
            <a:r>
              <a:rPr lang="he-IL" sz="2800" dirty="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br>
              <a:rPr lang="en-US" sz="2800" dirty="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800" dirty="0">
                <a:latin typeface="Gisha" panose="020B0502040204020203" pitchFamily="34" charset="-79"/>
                <a:cs typeface="Gisha" panose="020B0502040204020203" pitchFamily="34" charset="-79"/>
              </a:rPr>
              <a:t>ומפיק תמונות מסומנות</a:t>
            </a:r>
          </a:p>
          <a:p>
            <a:pPr algn="r" rtl="1">
              <a:lnSpc>
                <a:spcPct val="150000"/>
              </a:lnSpc>
            </a:pPr>
            <a:endParaRPr lang="he-IL" sz="2800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37456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0CAEE-A78C-0C53-7E6B-12EA15C3C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39A9-B66E-530B-C7CA-F35325DE7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82203"/>
            <a:ext cx="9144000" cy="1712277"/>
          </a:xfrm>
        </p:spPr>
        <p:txBody>
          <a:bodyPr>
            <a:normAutofit/>
          </a:bodyPr>
          <a:lstStyle/>
          <a:p>
            <a:r>
              <a:rPr lang="he-IL" sz="7200" b="1" dirty="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סיכום</a:t>
            </a:r>
          </a:p>
        </p:txBody>
      </p:sp>
    </p:spTree>
    <p:extLst>
      <p:ext uri="{BB962C8B-B14F-4D97-AF65-F5344CB8AC3E}">
        <p14:creationId xmlns:p14="http://schemas.microsoft.com/office/powerpoint/2010/main" val="705307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4075</TotalTime>
  <Words>225</Words>
  <Application>Microsoft Office PowerPoint</Application>
  <PresentationFormat>Widescreen</PresentationFormat>
  <Paragraphs>41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Gisha</vt:lpstr>
      <vt:lpstr>Office Theme</vt:lpstr>
      <vt:lpstr>PoseAI Trainer</vt:lpstr>
      <vt:lpstr>הצורך</vt:lpstr>
      <vt:lpstr>הערך</vt:lpstr>
      <vt:lpstr>פתרונות טכנולוגיים קיימים</vt:lpstr>
      <vt:lpstr>משימת הפרויקט</vt:lpstr>
      <vt:lpstr>דרישות נתונים</vt:lpstr>
      <vt:lpstr>חדשנות</vt:lpstr>
      <vt:lpstr>Use case</vt:lpstr>
      <vt:lpstr>סיכום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רותם פשרל</dc:creator>
  <cp:lastModifiedBy>רותם פשרל</cp:lastModifiedBy>
  <cp:revision>27</cp:revision>
  <dcterms:created xsi:type="dcterms:W3CDTF">2025-08-30T08:57:29Z</dcterms:created>
  <dcterms:modified xsi:type="dcterms:W3CDTF">2025-12-12T13:34:07Z</dcterms:modified>
</cp:coreProperties>
</file>